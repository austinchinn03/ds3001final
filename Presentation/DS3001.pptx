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2" r:id="rId4"/>
  </p:sldMasterIdLst>
  <p:notesMasterIdLst>
    <p:notesMasterId r:id="rId11"/>
  </p:notesMasterIdLst>
  <p:handoutMasterIdLst>
    <p:handoutMasterId r:id="rId12"/>
  </p:handoutMasterIdLst>
  <p:sldIdLst>
    <p:sldId id="351" r:id="rId5"/>
    <p:sldId id="352" r:id="rId6"/>
    <p:sldId id="353" r:id="rId7"/>
    <p:sldId id="354" r:id="rId8"/>
    <p:sldId id="355" r:id="rId9"/>
    <p:sldId id="3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9941987A-41B7-49AC-EE6E-03F2D0BD95BA}" name="Daria Naidenov" initials="DN" userId="S::danaidenov@microsoft.com::ab38ab5f-bdf0-4774-ae5a-d2782abb2027" providerId="AD"/>
  <p188:author id="{05079B93-9652-6626-7181-414354FAD15D}" name="Sher Dionisio" initials="SD" userId="Sher Dionisio" providerId="None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DBD9"/>
    <a:srgbClr val="FFE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8DAAB-8078-1FF4-907D-52DBA4180B05}" v="958" dt="2026-05-03T18:14:24.174"/>
    <p1510:client id="{622231D8-95B1-3A76-5621-BE51AFAC02E6}" v="1" dt="2026-05-03T16:45:38.515"/>
    <p1510:client id="{705DC7BC-3DCC-2A9F-4804-3044495A960F}" v="1454" dt="2026-05-04T03:13:01.587"/>
    <p1510:client id="{E83F5141-F3DE-C40C-B917-B03E6B8086C6}" v="65" dt="2026-05-03T17:02:06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5E4919-E033-41C8-AEE2-17504250F7D3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 userDrawn="1"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 userDrawn="1"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57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 userDrawn="1"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5/3/2026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9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399" y="1016955"/>
            <a:ext cx="10081590" cy="41078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30CEB7-507A-2133-3BE2-B0991FE7D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512106"/>
            <a:ext cx="8077200" cy="7995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82024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8" y="6492240"/>
            <a:ext cx="1885950" cy="365760"/>
          </a:xfrm>
          <a:prstGeom prst="rect">
            <a:avLst/>
          </a:prstGeom>
        </p:spPr>
        <p:txBody>
          <a:bodyPr/>
          <a:lstStyle/>
          <a:p>
            <a:fld id="{E154CBDD-12B5-42B3-8744-E368527C5234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9" y="6492241"/>
            <a:ext cx="657222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165057-EFFF-A71A-8F8B-BE52F9862DDA}"/>
              </a:ext>
            </a:extLst>
          </p:cNvPr>
          <p:cNvSpPr/>
          <p:nvPr userDrawn="1"/>
        </p:nvSpPr>
        <p:spPr>
          <a:xfrm>
            <a:off x="63403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81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D84BC10-B3F5-D240-EE9E-FD483EA0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3" y="2971799"/>
            <a:ext cx="8229600" cy="3414423"/>
          </a:xfrm>
        </p:spPr>
        <p:txBody>
          <a:bodyPr anchor="b"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DDFAAAD-A24C-B422-BCF6-2575C836C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016955"/>
            <a:ext cx="7924797" cy="11287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8576636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25" y="6476999"/>
            <a:ext cx="1885957" cy="381001"/>
          </a:xfrm>
          <a:prstGeom prst="rect">
            <a:avLst/>
          </a:prstGeom>
        </p:spPr>
        <p:txBody>
          <a:bodyPr/>
          <a:lstStyle/>
          <a:p>
            <a:fld id="{087CC088-4090-4963-BC4C-B0CE10E22E2D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5DF1A9-E718-252B-7EF1-E97806A4003A}"/>
              </a:ext>
            </a:extLst>
          </p:cNvPr>
          <p:cNvSpPr/>
          <p:nvPr userDrawn="1"/>
        </p:nvSpPr>
        <p:spPr>
          <a:xfrm>
            <a:off x="634034" y="568300"/>
            <a:ext cx="11557965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40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2562D4-D383-4177-95F1-F65B47D1CEF7}" type="datetime1">
              <a:rPr lang="en-US" smtClean="0"/>
              <a:t>5/3/2026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851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9C059A73-AC6C-7029-5CFB-0E0B30AD317B}"/>
              </a:ext>
            </a:extLst>
          </p:cNvPr>
          <p:cNvSpPr/>
          <p:nvPr/>
        </p:nvSpPr>
        <p:spPr>
          <a:xfrm>
            <a:off x="6843095" y="0"/>
            <a:ext cx="53489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3" y="1016955"/>
            <a:ext cx="4434507" cy="37268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000" cap="all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1247" y="5157623"/>
            <a:ext cx="4434506" cy="10907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6973B1C-74EE-7F51-CF89-E132D793F5B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843095" cy="6858000"/>
          </a:xfrm>
          <a:custGeom>
            <a:avLst/>
            <a:gdLst>
              <a:gd name="connsiteX0" fmla="*/ 0 w 6843095"/>
              <a:gd name="connsiteY0" fmla="*/ 629614 h 6858000"/>
              <a:gd name="connsiteX1" fmla="*/ 6843095 w 6843095"/>
              <a:gd name="connsiteY1" fmla="*/ 629614 h 6858000"/>
              <a:gd name="connsiteX2" fmla="*/ 6843095 w 6843095"/>
              <a:gd name="connsiteY2" fmla="*/ 6858000 h 6858000"/>
              <a:gd name="connsiteX3" fmla="*/ 0 w 6843095"/>
              <a:gd name="connsiteY3" fmla="*/ 6858000 h 6858000"/>
              <a:gd name="connsiteX4" fmla="*/ 0 w 6843095"/>
              <a:gd name="connsiteY4" fmla="*/ 0 h 6858000"/>
              <a:gd name="connsiteX5" fmla="*/ 6843095 w 6843095"/>
              <a:gd name="connsiteY5" fmla="*/ 0 h 6858000"/>
              <a:gd name="connsiteX6" fmla="*/ 6843095 w 6843095"/>
              <a:gd name="connsiteY6" fmla="*/ 565606 h 6858000"/>
              <a:gd name="connsiteX7" fmla="*/ 0 w 6843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43095" h="6858000">
                <a:moveTo>
                  <a:pt x="0" y="629614"/>
                </a:moveTo>
                <a:lnTo>
                  <a:pt x="6843095" y="629614"/>
                </a:lnTo>
                <a:lnTo>
                  <a:pt x="6843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6843095" y="0"/>
                </a:lnTo>
                <a:lnTo>
                  <a:pt x="6843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3" y="6477000"/>
            <a:ext cx="282891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398" y="6477000"/>
            <a:ext cx="937594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553FCE35-EF6C-4066-94B9-FDC76A5D930F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876"/>
            <a:ext cx="65722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2554D8-9DAA-D834-ABC8-240BBF9CA28F}"/>
              </a:ext>
            </a:extLst>
          </p:cNvPr>
          <p:cNvSpPr/>
          <p:nvPr/>
        </p:nvSpPr>
        <p:spPr>
          <a:xfrm>
            <a:off x="6843096" y="565606"/>
            <a:ext cx="4811394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00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9C7A302-1799-4123-960A-AC3BB0278DAE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 userDrawn="1"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91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016955"/>
            <a:ext cx="4429126" cy="3331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4846320"/>
            <a:ext cx="3174160" cy="14653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" y="6492240"/>
            <a:ext cx="2548562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76577" y="6492240"/>
            <a:ext cx="689944" cy="365760"/>
          </a:xfrm>
          <a:prstGeom prst="rect">
            <a:avLst/>
          </a:prstGeom>
        </p:spPr>
        <p:txBody>
          <a:bodyPr/>
          <a:lstStyle/>
          <a:p>
            <a:fld id="{190C6F8C-60CC-4202-91FF-CD1CCD20CDA6}" type="datetime1">
              <a:rPr lang="en-US" smtClean="0"/>
              <a:t>5/3/2026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1906" y="6492240"/>
            <a:ext cx="628645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08E6492-6236-5992-A07D-5116336E842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48910" y="0"/>
            <a:ext cx="6843089" cy="6858000"/>
          </a:xfrm>
          <a:custGeom>
            <a:avLst/>
            <a:gdLst>
              <a:gd name="connsiteX0" fmla="*/ 0 w 6843089"/>
              <a:gd name="connsiteY0" fmla="*/ 629614 h 6858000"/>
              <a:gd name="connsiteX1" fmla="*/ 6843089 w 6843089"/>
              <a:gd name="connsiteY1" fmla="*/ 629614 h 6858000"/>
              <a:gd name="connsiteX2" fmla="*/ 6843089 w 6843089"/>
              <a:gd name="connsiteY2" fmla="*/ 6858000 h 6858000"/>
              <a:gd name="connsiteX3" fmla="*/ 0 w 6843089"/>
              <a:gd name="connsiteY3" fmla="*/ 6858000 h 6858000"/>
              <a:gd name="connsiteX4" fmla="*/ 0 w 6843089"/>
              <a:gd name="connsiteY4" fmla="*/ 0 h 6858000"/>
              <a:gd name="connsiteX5" fmla="*/ 6843089 w 6843089"/>
              <a:gd name="connsiteY5" fmla="*/ 0 h 6858000"/>
              <a:gd name="connsiteX6" fmla="*/ 6843089 w 6843089"/>
              <a:gd name="connsiteY6" fmla="*/ 565606 h 6858000"/>
              <a:gd name="connsiteX7" fmla="*/ 0 w 6843089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43089" h="6858000">
                <a:moveTo>
                  <a:pt x="0" y="629614"/>
                </a:moveTo>
                <a:lnTo>
                  <a:pt x="6843089" y="629614"/>
                </a:lnTo>
                <a:lnTo>
                  <a:pt x="6843089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6843089" y="0"/>
                </a:lnTo>
                <a:lnTo>
                  <a:pt x="6843089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9E1B0C-9687-1C2C-7103-072A38CFE3B8}"/>
              </a:ext>
            </a:extLst>
          </p:cNvPr>
          <p:cNvSpPr/>
          <p:nvPr/>
        </p:nvSpPr>
        <p:spPr>
          <a:xfrm>
            <a:off x="634030" y="565606"/>
            <a:ext cx="1155797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63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79AA538-6584-1335-947D-99C9A0CA5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220" y="2689229"/>
            <a:ext cx="5101253" cy="3711571"/>
          </a:xfrm>
        </p:spPr>
        <p:txBody>
          <a:bodyPr anchor="b">
            <a:noAutofit/>
          </a:bodyPr>
          <a:lstStyle>
            <a:lvl1pPr>
              <a:defRPr sz="72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136D812-C006-B109-4529-F43530D92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016957"/>
            <a:ext cx="6685515" cy="7315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4815506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3525" y="6476999"/>
            <a:ext cx="1212771" cy="381001"/>
          </a:xfrm>
          <a:prstGeom prst="rect">
            <a:avLst/>
          </a:prstGeom>
        </p:spPr>
        <p:txBody>
          <a:bodyPr/>
          <a:lstStyle/>
          <a:p>
            <a:fld id="{00DF5560-89AD-437A-9E84-F44AEC0D58FA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61689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64E68E40-D2D1-8DA8-1BBA-34E89F479D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6070" y="-2"/>
            <a:ext cx="4405930" cy="6858001"/>
          </a:xfrm>
          <a:custGeom>
            <a:avLst/>
            <a:gdLst>
              <a:gd name="connsiteX0" fmla="*/ 0 w 4405930"/>
              <a:gd name="connsiteY0" fmla="*/ 0 h 6858001"/>
              <a:gd name="connsiteX1" fmla="*/ 4405930 w 4405930"/>
              <a:gd name="connsiteY1" fmla="*/ 0 h 6858001"/>
              <a:gd name="connsiteX2" fmla="*/ 4405930 w 4405930"/>
              <a:gd name="connsiteY2" fmla="*/ 6858001 h 6858001"/>
              <a:gd name="connsiteX3" fmla="*/ 0 w 4405930"/>
              <a:gd name="connsiteY3" fmla="*/ 6858001 h 6858001"/>
              <a:gd name="connsiteX4" fmla="*/ 0 w 4405930"/>
              <a:gd name="connsiteY4" fmla="*/ 632310 h 6858001"/>
              <a:gd name="connsiteX5" fmla="*/ 4405929 w 4405930"/>
              <a:gd name="connsiteY5" fmla="*/ 632310 h 6858001"/>
              <a:gd name="connsiteX6" fmla="*/ 4405929 w 4405930"/>
              <a:gd name="connsiteY6" fmla="*/ 568302 h 6858001"/>
              <a:gd name="connsiteX7" fmla="*/ 0 w 4405930"/>
              <a:gd name="connsiteY7" fmla="*/ 56830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5930" h="6858001">
                <a:moveTo>
                  <a:pt x="0" y="0"/>
                </a:moveTo>
                <a:lnTo>
                  <a:pt x="4405930" y="0"/>
                </a:lnTo>
                <a:lnTo>
                  <a:pt x="4405930" y="6858001"/>
                </a:lnTo>
                <a:lnTo>
                  <a:pt x="0" y="6858001"/>
                </a:lnTo>
                <a:lnTo>
                  <a:pt x="0" y="632310"/>
                </a:lnTo>
                <a:lnTo>
                  <a:pt x="4405929" y="632310"/>
                </a:lnTo>
                <a:lnTo>
                  <a:pt x="4405929" y="568302"/>
                </a:lnTo>
                <a:lnTo>
                  <a:pt x="0" y="56830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31C6569-302F-A491-577D-85BBD3AFD160}"/>
              </a:ext>
            </a:extLst>
          </p:cNvPr>
          <p:cNvSpPr/>
          <p:nvPr/>
        </p:nvSpPr>
        <p:spPr>
          <a:xfrm>
            <a:off x="634034" y="568300"/>
            <a:ext cx="11557965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5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28339C4-3F0B-4FDE-331F-F8029E9A43FE}"/>
              </a:ext>
            </a:extLst>
          </p:cNvPr>
          <p:cNvSpPr/>
          <p:nvPr/>
        </p:nvSpPr>
        <p:spPr>
          <a:xfrm>
            <a:off x="0" y="0"/>
            <a:ext cx="778606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BC36425-FDF2-F5CF-6A47-6FF03D43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624" y="1016955"/>
            <a:ext cx="5657849" cy="2980050"/>
          </a:xfrm>
        </p:spPr>
        <p:txBody>
          <a:bodyPr>
            <a:noAutofit/>
          </a:bodyPr>
          <a:lstStyle>
            <a:lvl1pPr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100EADD-FAC0-B5A1-CE0F-C7DBBBB19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7574" y="5013960"/>
            <a:ext cx="3761341" cy="8423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481550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3525" y="6476999"/>
            <a:ext cx="121277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FB5146-A057-4912-9A0A-2FE6D6C56141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61689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B02236DF-7EF5-6F1F-81E2-5FBB5F770D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6070" y="0"/>
            <a:ext cx="4405930" cy="6858000"/>
          </a:xfrm>
          <a:custGeom>
            <a:avLst/>
            <a:gdLst>
              <a:gd name="connsiteX0" fmla="*/ 0 w 4405930"/>
              <a:gd name="connsiteY0" fmla="*/ 0 h 6858000"/>
              <a:gd name="connsiteX1" fmla="*/ 4405930 w 4405930"/>
              <a:gd name="connsiteY1" fmla="*/ 0 h 6858000"/>
              <a:gd name="connsiteX2" fmla="*/ 4405930 w 4405930"/>
              <a:gd name="connsiteY2" fmla="*/ 6858000 h 6858000"/>
              <a:gd name="connsiteX3" fmla="*/ 0 w 4405930"/>
              <a:gd name="connsiteY3" fmla="*/ 6858000 h 6858000"/>
              <a:gd name="connsiteX4" fmla="*/ 0 w 4405930"/>
              <a:gd name="connsiteY4" fmla="*/ 6223002 h 6858000"/>
              <a:gd name="connsiteX5" fmla="*/ 4405929 w 4405930"/>
              <a:gd name="connsiteY5" fmla="*/ 6223002 h 6858000"/>
              <a:gd name="connsiteX6" fmla="*/ 4405929 w 4405930"/>
              <a:gd name="connsiteY6" fmla="*/ 6158994 h 6858000"/>
              <a:gd name="connsiteX7" fmla="*/ 0 w 4405930"/>
              <a:gd name="connsiteY7" fmla="*/ 615899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5930" h="6858000">
                <a:moveTo>
                  <a:pt x="0" y="0"/>
                </a:moveTo>
                <a:lnTo>
                  <a:pt x="4405930" y="0"/>
                </a:lnTo>
                <a:lnTo>
                  <a:pt x="4405930" y="6858000"/>
                </a:lnTo>
                <a:lnTo>
                  <a:pt x="0" y="6858000"/>
                </a:lnTo>
                <a:lnTo>
                  <a:pt x="0" y="6223002"/>
                </a:lnTo>
                <a:lnTo>
                  <a:pt x="4405929" y="6223002"/>
                </a:lnTo>
                <a:lnTo>
                  <a:pt x="4405929" y="6158994"/>
                </a:lnTo>
                <a:lnTo>
                  <a:pt x="0" y="6158994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ED591FA-7D43-29EE-BFC3-BBC766B4EE45}"/>
              </a:ext>
            </a:extLst>
          </p:cNvPr>
          <p:cNvSpPr/>
          <p:nvPr userDrawn="1"/>
        </p:nvSpPr>
        <p:spPr>
          <a:xfrm>
            <a:off x="3457574" y="6158994"/>
            <a:ext cx="4328495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AC4AA71-4D00-C504-86D1-E003D9A4D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3623950"/>
            <a:ext cx="7275859" cy="2395850"/>
          </a:xfrm>
        </p:spPr>
        <p:txBody>
          <a:bodyPr anchor="b">
            <a:noAutofit/>
          </a:bodyPr>
          <a:lstStyle>
            <a:lvl1pPr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0042" y="4728526"/>
            <a:ext cx="2548557" cy="112775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9064727-BADB-A389-B86C-8631998C08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71624" y="-1"/>
            <a:ext cx="10620375" cy="324295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857663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7" y="6476999"/>
            <a:ext cx="1885950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F95F04-801A-4580-BC26-D705AEBD4783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9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DFF3827-CD62-4A14-DFBC-0250A91ECBC5}"/>
              </a:ext>
            </a:extLst>
          </p:cNvPr>
          <p:cNvSpPr/>
          <p:nvPr/>
        </p:nvSpPr>
        <p:spPr>
          <a:xfrm>
            <a:off x="9110042" y="6167560"/>
            <a:ext cx="3085896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B46863E6-656C-574C-DA91-23C8D30CE998}"/>
              </a:ext>
            </a:extLst>
          </p:cNvPr>
          <p:cNvSpPr/>
          <p:nvPr/>
        </p:nvSpPr>
        <p:spPr>
          <a:xfrm>
            <a:off x="1571623" y="6167558"/>
            <a:ext cx="754379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7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88643-CA1F-4663-8C06-BD5ECF50899D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81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73E6FC-8E19-48D4-B829-246931AD4AF3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69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1616" y="1016955"/>
            <a:ext cx="10086983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7574" y="2510472"/>
            <a:ext cx="8201025" cy="33458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820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10" y="6477000"/>
            <a:ext cx="1880569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0CEFBA-160C-4799-BD15-C032D631B769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9" y="6477000"/>
            <a:ext cx="66801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D80240-B3FF-301A-7873-10FB09246CCA}"/>
              </a:ext>
            </a:extLst>
          </p:cNvPr>
          <p:cNvSpPr/>
          <p:nvPr userDrawn="1"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4D47D0-4154-EDAC-8824-1648A190B7A6}"/>
              </a:ext>
            </a:extLst>
          </p:cNvPr>
          <p:cNvSpPr/>
          <p:nvPr userDrawn="1"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73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20AF2805-09FE-4E19-BD3D-273F9C4FB4DD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97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6B3EE4-062C-F433-E634-3A18DC14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0252" cy="1064665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E7D5E3-074F-6FA6-6315-6EB342D2C2D0}"/>
              </a:ext>
            </a:extLst>
          </p:cNvPr>
          <p:cNvSpPr/>
          <p:nvPr userDrawn="1"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2BF4CD-78B4-D70F-8781-6C00B2CEA066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47EC38-FC2B-37AD-5285-1B51B7FA25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2495232"/>
            <a:ext cx="4659313" cy="16446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/>
            </a:lvl1pPr>
            <a:lvl2pPr marL="228600" indent="0">
              <a:spcBef>
                <a:spcPts val="0"/>
              </a:spcBef>
              <a:buNone/>
              <a:defRPr sz="1400"/>
            </a:lvl2pPr>
            <a:lvl3pPr marL="457200" indent="0">
              <a:spcBef>
                <a:spcPts val="0"/>
              </a:spcBef>
              <a:buNone/>
              <a:defRPr sz="1400"/>
            </a:lvl3pPr>
            <a:lvl4pPr marL="685800" indent="0">
              <a:spcBef>
                <a:spcPts val="0"/>
              </a:spcBef>
              <a:buNone/>
              <a:defRPr sz="1400"/>
            </a:lvl4pPr>
            <a:lvl5pPr marL="914400" indent="0"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6304302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3095" y="6477000"/>
            <a:ext cx="1223330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916611-30DD-4F0D-BDC3-078E01EB801A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6425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7ECC57E-F626-26BF-F554-362A80454818}"/>
              </a:ext>
            </a:extLst>
          </p:cNvPr>
          <p:cNvSpPr/>
          <p:nvPr userDrawn="1"/>
        </p:nvSpPr>
        <p:spPr>
          <a:xfrm>
            <a:off x="9110042" y="2144714"/>
            <a:ext cx="3085896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96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93859" cy="345689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7" y="1016955"/>
            <a:ext cx="6696073" cy="3461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5849E5F1-9C7C-41DD-B083-40CE4B6B6609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A2D93-E48C-9CE8-FF5E-7230586A29D9}"/>
              </a:ext>
            </a:extLst>
          </p:cNvPr>
          <p:cNvSpPr/>
          <p:nvPr userDrawn="1"/>
        </p:nvSpPr>
        <p:spPr>
          <a:xfrm>
            <a:off x="4019552" y="570037"/>
            <a:ext cx="8172448" cy="59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FA3421-FB3F-747A-9D40-EB149BBDD6FA}"/>
              </a:ext>
            </a:extLst>
          </p:cNvPr>
          <p:cNvSpPr/>
          <p:nvPr userDrawn="1"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066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1E532691-8605-4D75-9B37-0F29951CF35A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 userDrawn="1"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 userDrawn="1"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174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6147" cy="49406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49406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CE22925B-E537-4894-A5C9-5FB557DF6FFB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C1B67F-B248-B2D5-AE0D-B9A93FFB6061}"/>
              </a:ext>
            </a:extLst>
          </p:cNvPr>
          <p:cNvSpPr/>
          <p:nvPr userDrawn="1"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DF7F2-59F5-C597-5370-B00D427EA660}"/>
              </a:ext>
            </a:extLst>
          </p:cNvPr>
          <p:cNvSpPr/>
          <p:nvPr userDrawn="1"/>
        </p:nvSpPr>
        <p:spPr>
          <a:xfrm>
            <a:off x="4019547" y="570037"/>
            <a:ext cx="8172453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80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AF504E6F-5E20-457A-A4D7-010D88E2AB6A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 userDrawn="1"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71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33F4C8-FF6A-458A-9544-1F0DF90A3B6B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 userDrawn="1"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 userDrawn="1"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886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630982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2145668"/>
            <a:ext cx="6309695" cy="40584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4809999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43525" y="6492875"/>
            <a:ext cx="103359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36458B-3648-49BD-A4D6-0F9088BB7776}" type="datetime1">
              <a:rPr lang="en-US" smtClean="0"/>
              <a:t>5/3/2026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413888" y="6476999"/>
            <a:ext cx="42920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64846-7F19-1A60-FFA5-393438EE39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91446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7C63CE-38F9-6D67-7C23-42944811492E}"/>
              </a:ext>
            </a:extLst>
          </p:cNvPr>
          <p:cNvSpPr/>
          <p:nvPr userDrawn="1"/>
        </p:nvSpPr>
        <p:spPr>
          <a:xfrm>
            <a:off x="7789164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209D7E2-AB21-4057-B204-85F36DA5484C}"/>
              </a:ext>
            </a:extLst>
          </p:cNvPr>
          <p:cNvSpPr/>
          <p:nvPr userDrawn="1"/>
        </p:nvSpPr>
        <p:spPr>
          <a:xfrm>
            <a:off x="645959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41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1E8540-4D23-42CD-8A63-F2EAD91093A7}" type="datetime1">
              <a:rPr lang="en-US" smtClean="0"/>
              <a:t>5/3/2026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 userDrawn="1"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 userDrawn="1"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571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B456EB-19FD-4A38-8010-F86DE924658C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 userDrawn="1"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 userDrawn="1"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554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478" y="1016955"/>
            <a:ext cx="4429122" cy="132893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6383"/>
            <a:ext cx="6492240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8" y="2495233"/>
            <a:ext cx="4429121" cy="37277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9479" y="6477000"/>
            <a:ext cx="28289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4" y="6477000"/>
            <a:ext cx="94297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2FD4696-74E2-4970-BC78-F6CE4130DF59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7A28C34C-6E29-8131-3040-4DAF8132CA12}"/>
              </a:ext>
            </a:extLst>
          </p:cNvPr>
          <p:cNvSpPr/>
          <p:nvPr/>
        </p:nvSpPr>
        <p:spPr>
          <a:xfrm>
            <a:off x="6487084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8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ADCD4E-3EB5-4828-8896-DAF01418F813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 userDrawn="1"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615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2" y="1016955"/>
            <a:ext cx="3445937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8851C855-D5E5-B064-989B-863B11B75D0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12663" y="2495232"/>
            <a:ext cx="3445936" cy="37277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477000"/>
            <a:ext cx="201206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477000"/>
            <a:ext cx="922372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20E8D4-9784-4902-913C-374378762F57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477000"/>
            <a:ext cx="511504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B50E9EA-081E-416A-00DA-0B2838C4BC29}"/>
              </a:ext>
            </a:extLst>
          </p:cNvPr>
          <p:cNvSpPr/>
          <p:nvPr/>
        </p:nvSpPr>
        <p:spPr>
          <a:xfrm>
            <a:off x="7584144" y="570989"/>
            <a:ext cx="4074456" cy="64011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037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8BB81F-FF8D-4CDB-8C81-6D8C7DBC8B8C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 userDrawn="1"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066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D491FD6-320B-4F77-8F99-6D2F5BCDF640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 userDrawn="1"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979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2781551" cy="1858941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574" y="3011335"/>
            <a:ext cx="2775463" cy="2656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14867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20157" y="6477000"/>
            <a:ext cx="793862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64B6C62-EAB8-4FD5-A3F3-DE2355691BC8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19401" y="6477000"/>
            <a:ext cx="49063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ED5D7D43-775B-F6E3-C000-80A73E7819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0295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95BE6104-7C9B-2481-1421-76CDDAC8D30F}"/>
              </a:ext>
            </a:extLst>
          </p:cNvPr>
          <p:cNvSpPr/>
          <p:nvPr/>
        </p:nvSpPr>
        <p:spPr>
          <a:xfrm>
            <a:off x="615697" y="570345"/>
            <a:ext cx="3239216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189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742811"/>
            <a:ext cx="3867144" cy="173418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361811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7" y="4727571"/>
            <a:ext cx="6696073" cy="174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33A7FD-07F9-4FAA-B120-4F4AB0134804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123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08C1C0-E3FE-42AC-82A3-E6DC4F473B5F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39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2924179" cy="177354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0"/>
            <a:ext cx="9138609" cy="4097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1329365" cy="4097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239508-6CC3-49FE-83E6-A4065CA8777B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9" y="0"/>
            <a:ext cx="657221" cy="4097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1001715"/>
            <a:ext cx="7639048" cy="2232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4F7C1A4C-ACA8-3A17-4922-8A9094FFB3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623947"/>
            <a:ext cx="12192000" cy="323405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310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200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399" y="2145668"/>
            <a:ext cx="4810129" cy="43780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6999"/>
            <a:ext cx="331594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4723" y="6476998"/>
            <a:ext cx="942979" cy="3810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5E1F8C-A11C-4B7E-B523-87C003E86ACE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97698" y="6492239"/>
            <a:ext cx="551213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00120" y="2129475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7D2DCB-EC64-46B8-8C3D-7FA6E5EABD76}"/>
              </a:ext>
            </a:extLst>
          </p:cNvPr>
          <p:cNvSpPr/>
          <p:nvPr userDrawn="1"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22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93EDC19-2576-AA88-E064-C7C747F16FC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0969753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2145668"/>
            <a:ext cx="4810129" cy="40935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00120" y="2129474"/>
            <a:ext cx="5758479" cy="4093525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858201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110043" y="6477000"/>
            <a:ext cx="18913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E987CE-97DC-4010-9BA9-B6C1C088F588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68" y="6492240"/>
            <a:ext cx="65723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260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EEA351-3479-4085-8F9E-571D48233D05}" type="datetime1">
              <a:rPr lang="en-US" smtClean="0"/>
              <a:t>5/3/2026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 userDrawn="1"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00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4810129" cy="126948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4"/>
            <a:ext cx="4709498" cy="3727766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2" y="1010614"/>
            <a:ext cx="5753037" cy="52123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6999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50748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7C43B-089F-44C0-B681-481CCE0137A5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76999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765160-0AD1-7CB4-8350-CBCBF4F7DE6D}"/>
              </a:ext>
            </a:extLst>
          </p:cNvPr>
          <p:cNvSpPr/>
          <p:nvPr userDrawn="1"/>
        </p:nvSpPr>
        <p:spPr>
          <a:xfrm>
            <a:off x="634030" y="565606"/>
            <a:ext cx="470949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0551DE-1F1F-2C48-CB34-005587707E99}"/>
              </a:ext>
            </a:extLst>
          </p:cNvPr>
          <p:cNvSpPr/>
          <p:nvPr userDrawn="1"/>
        </p:nvSpPr>
        <p:spPr>
          <a:xfrm>
            <a:off x="5345730" y="565605"/>
            <a:ext cx="684627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747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018939-3725-45C4-8448-060C1C945770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 userDrawn="1"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 userDrawn="1"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299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A68E59-4168-43B1-871D-9D793958CB73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162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598420F-9109-D819-4B18-8ABF25354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6"/>
            <a:ext cx="8195638" cy="744634"/>
          </a:xfrm>
        </p:spPr>
        <p:txBody>
          <a:bodyPr anchor="b">
            <a:normAutofit/>
          </a:bodyPr>
          <a:lstStyle>
            <a:lvl1pPr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EF40F6-4B37-BBD3-E0AD-279A48AF21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76388" y="533400"/>
            <a:ext cx="10082212" cy="4535488"/>
          </a:xfrm>
        </p:spPr>
        <p:txBody>
          <a:bodyPr anchor="b">
            <a:noAutofit/>
          </a:bodyPr>
          <a:lstStyle>
            <a:lvl1pPr marL="0" indent="0">
              <a:buNone/>
              <a:defRPr sz="30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C77307-365E-4277-817C-B4BE1A525D2E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9B9B1-5BEF-4F31-6B44-3CB4CD58885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548359-EFF8-1F42-7DB6-7D93AD66C2F5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21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F766B52-229C-C000-F364-4B90D3B58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5503767"/>
            <a:ext cx="8197616" cy="744633"/>
          </a:xfrm>
        </p:spPr>
        <p:txBody>
          <a:bodyPr anchor="b">
            <a:normAutofit/>
          </a:bodyPr>
          <a:lstStyle>
            <a:lvl1pPr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9F166E-4119-CF5D-6537-03CAC7026DA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8197850" cy="4535488"/>
          </a:xfrm>
        </p:spPr>
        <p:txBody>
          <a:bodyPr>
            <a:normAutofit/>
          </a:bodyPr>
          <a:lstStyle>
            <a:lvl1pPr marL="0" indent="0">
              <a:buNone/>
              <a:defRPr sz="25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574770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79139" y="6477000"/>
            <a:ext cx="1783858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233825-4D0E-421F-BAE1-73001CD26D08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839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44F338-C24A-72CF-A14A-4F2D72023D14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CA27EA-41C5-29B8-12D6-3E865A8BE203}"/>
              </a:ext>
            </a:extLst>
          </p:cNvPr>
          <p:cNvSpPr/>
          <p:nvPr userDrawn="1"/>
        </p:nvSpPr>
        <p:spPr>
          <a:xfrm>
            <a:off x="9110034" y="0"/>
            <a:ext cx="308196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53515-1714-73E5-D625-2A609526F7E8}"/>
              </a:ext>
            </a:extLst>
          </p:cNvPr>
          <p:cNvSpPr/>
          <p:nvPr userDrawn="1"/>
        </p:nvSpPr>
        <p:spPr>
          <a:xfrm>
            <a:off x="9110040" y="565606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412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C8A96B5-6C84-4F87-863B-82F8A700BDB6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 userDrawn="1"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 userDrawn="1"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01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3308"/>
            <a:ext cx="11125201" cy="520461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tx2"/>
                </a:solidFill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tx2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tx2"/>
                </a:solidFill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tx2"/>
                </a:solidFill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BF9C9D6-DA86-3C40-578D-A1E0A226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EDDA72D8-8E1B-E9E1-BE77-CAA0A8C2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7" cy="365760"/>
          </a:xfrm>
          <a:prstGeom prst="rect">
            <a:avLst/>
          </a:prstGeom>
        </p:spPr>
        <p:txBody>
          <a:bodyPr/>
          <a:lstStyle/>
          <a:p>
            <a:fld id="{C0792C66-3CB6-49EE-BE61-4783D75F2D63}" type="datetime1">
              <a:rPr lang="en-US" smtClean="0"/>
              <a:t>5/3/2026</a:t>
            </a:fld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CD685AC-8C83-2966-C687-1A563ED4E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3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013958-6C87-60CF-9219-2BB1A3A4CCA8}"/>
              </a:ext>
            </a:extLst>
          </p:cNvPr>
          <p:cNvSpPr/>
          <p:nvPr userDrawn="1"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2B8EA-56EE-EDC6-509C-908732AAD241}"/>
              </a:ext>
            </a:extLst>
          </p:cNvPr>
          <p:cNvSpPr/>
          <p:nvPr userDrawn="1"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3773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398" y="1016955"/>
            <a:ext cx="11125201" cy="47823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1"/>
                </a:solidFill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1"/>
                </a:solidFill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1"/>
                </a:solidFill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55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1FC74F-A55B-49F7-BC3A-4C99B80A48ED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996" y="6492241"/>
            <a:ext cx="66960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EEA900-0D70-4D93-7863-89A4085C93C9}"/>
              </a:ext>
            </a:extLst>
          </p:cNvPr>
          <p:cNvSpPr/>
          <p:nvPr userDrawn="1"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174C4B-8932-8749-0D17-218307FD761A}"/>
              </a:ext>
            </a:extLst>
          </p:cNvPr>
          <p:cNvSpPr/>
          <p:nvPr userDrawn="1"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706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0380565A-AEC2-4981-9BC9-2BD45633EEB3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604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E449530-F624-DF0E-5783-08CE43BB9B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0579" y="5213166"/>
            <a:ext cx="7152032" cy="654234"/>
          </a:xfrm>
        </p:spPr>
        <p:txBody>
          <a:bodyPr anchor="b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4629" y="1016955"/>
            <a:ext cx="9037983" cy="3361830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55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702AA61-FBFD-44C6-AF01-DB4C26C9E4A0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996" y="6492239"/>
            <a:ext cx="669603" cy="3657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FFCFBA-7D7E-58B0-8630-FC532477B231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ABCBB3-5444-1C63-982A-1A2C44851352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0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911537-9B2D-3AC3-4978-FFAA74E6C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0118" y="5472201"/>
            <a:ext cx="5758481" cy="385039"/>
          </a:xfrm>
        </p:spPr>
        <p:txBody>
          <a:bodyPr anchor="b"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4"/>
            <a:ext cx="8576637" cy="4089489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7" cy="365760"/>
          </a:xfrm>
          <a:prstGeom prst="rect">
            <a:avLst/>
          </a:prstGeom>
        </p:spPr>
        <p:txBody>
          <a:bodyPr/>
          <a:lstStyle/>
          <a:p>
            <a:fld id="{F6969E0B-AA8D-4EF2-A24C-BEB60200443D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3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6E38-A715-5665-7BB7-7254F2F2D693}"/>
              </a:ext>
            </a:extLst>
          </p:cNvPr>
          <p:cNvSpPr/>
          <p:nvPr userDrawn="1"/>
        </p:nvSpPr>
        <p:spPr>
          <a:xfrm>
            <a:off x="5900118" y="6155910"/>
            <a:ext cx="6279500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283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D0114CA0-7CEA-48F6-8B27-4A03BEF1B362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614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1EDD8A06-915F-45A0-B576-0929C47FD8AE}" type="datetime1">
              <a:rPr lang="en-US" smtClean="0"/>
              <a:t>5/3/2026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842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D05E5D-68FD-447C-A2DD-5EC26B56527F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 userDrawn="1"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 userDrawn="1"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0490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E5D97B4D-FF2F-4402-9FD4-AE767FCF1FF3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441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867155" cy="175750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3398" y="3242948"/>
            <a:ext cx="3867154" cy="30816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527" y="1001714"/>
            <a:ext cx="6696073" cy="5221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2"/>
                </a:solidFill>
              </a:defRPr>
            </a:lvl1pPr>
            <a:lvl2pPr>
              <a:defRPr lang="en-US" dirty="0">
                <a:solidFill>
                  <a:schemeClr val="tx2"/>
                </a:solidFill>
              </a:defRPr>
            </a:lvl2pPr>
            <a:lvl3pPr>
              <a:defRPr lang="en-US" dirty="0">
                <a:solidFill>
                  <a:schemeClr val="tx2"/>
                </a:solidFill>
              </a:defRPr>
            </a:lvl3pPr>
            <a:lvl4pPr>
              <a:defRPr lang="en-US" dirty="0">
                <a:solidFill>
                  <a:schemeClr val="tx2"/>
                </a:solidFill>
              </a:defRPr>
            </a:lvl4pPr>
            <a:lvl5pPr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9CF624E3-F692-4ABF-8B9A-804B11213B17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20561F0-CF17-B530-6961-589A8ED59092}"/>
              </a:ext>
            </a:extLst>
          </p:cNvPr>
          <p:cNvSpPr/>
          <p:nvPr/>
        </p:nvSpPr>
        <p:spPr>
          <a:xfrm>
            <a:off x="634029" y="570037"/>
            <a:ext cx="3766523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CC40D6-7654-D186-61ED-908232C31F69}"/>
              </a:ext>
            </a:extLst>
          </p:cNvPr>
          <p:cNvSpPr/>
          <p:nvPr/>
        </p:nvSpPr>
        <p:spPr>
          <a:xfrm>
            <a:off x="4400552" y="570037"/>
            <a:ext cx="7791448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842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762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3399" y="2991503"/>
            <a:ext cx="3486153" cy="333309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62527" y="631580"/>
            <a:ext cx="6696073" cy="584542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8"/>
            <a:ext cx="1880548" cy="365761"/>
          </a:xfrm>
          <a:prstGeom prst="rect">
            <a:avLst/>
          </a:prstGeom>
        </p:spPr>
        <p:txBody>
          <a:bodyPr/>
          <a:lstStyle/>
          <a:p>
            <a:fld id="{09586136-1724-4889-B6EA-E52CF969ADAD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7"/>
            <a:ext cx="662624" cy="365763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3DE75D-DDAE-AF30-6FFC-D490DF411F57}"/>
              </a:ext>
            </a:extLst>
          </p:cNvPr>
          <p:cNvSpPr/>
          <p:nvPr/>
        </p:nvSpPr>
        <p:spPr>
          <a:xfrm>
            <a:off x="634029" y="570037"/>
            <a:ext cx="4323111" cy="7481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FF2131-F761-6A93-E155-1DE63565D2B6}"/>
              </a:ext>
            </a:extLst>
          </p:cNvPr>
          <p:cNvSpPr/>
          <p:nvPr/>
        </p:nvSpPr>
        <p:spPr>
          <a:xfrm>
            <a:off x="4962522" y="570037"/>
            <a:ext cx="7229478" cy="748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770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C57766D-ED87-4A0C-9B23-F4979C5AA24E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03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1450B2-75D0-4277-B6D7-7B5D301DCF72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5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5F68458-1A7A-4A29-A16B-4424C6D3B5E6}" type="datetime1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7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7" r:id="rId14"/>
    <p:sldLayoutId id="2147483966" r:id="rId15"/>
    <p:sldLayoutId id="2147483968" r:id="rId16"/>
    <p:sldLayoutId id="2147483969" r:id="rId17"/>
    <p:sldLayoutId id="2147483970" r:id="rId18"/>
    <p:sldLayoutId id="2147483971" r:id="rId19"/>
    <p:sldLayoutId id="2147483972" r:id="rId20"/>
    <p:sldLayoutId id="2147483973" r:id="rId21"/>
    <p:sldLayoutId id="2147483974" r:id="rId22"/>
    <p:sldLayoutId id="2147483975" r:id="rId23"/>
    <p:sldLayoutId id="2147483976" r:id="rId24"/>
    <p:sldLayoutId id="2147483977" r:id="rId25"/>
    <p:sldLayoutId id="2147483978" r:id="rId26"/>
    <p:sldLayoutId id="2147483979" r:id="rId27"/>
    <p:sldLayoutId id="2147483980" r:id="rId28"/>
    <p:sldLayoutId id="2147483981" r:id="rId29"/>
    <p:sldLayoutId id="2147483982" r:id="rId30"/>
    <p:sldLayoutId id="2147483983" r:id="rId31"/>
    <p:sldLayoutId id="2147483984" r:id="rId32"/>
    <p:sldLayoutId id="2147483985" r:id="rId33"/>
    <p:sldLayoutId id="2147483986" r:id="rId34"/>
    <p:sldLayoutId id="2147483987" r:id="rId35"/>
    <p:sldLayoutId id="2147483988" r:id="rId36"/>
    <p:sldLayoutId id="2147483989" r:id="rId37"/>
    <p:sldLayoutId id="2147483990" r:id="rId38"/>
    <p:sldLayoutId id="2147483991" r:id="rId39"/>
    <p:sldLayoutId id="2147483992" r:id="rId40"/>
    <p:sldLayoutId id="2147483993" r:id="rId41"/>
    <p:sldLayoutId id="2147483994" r:id="rId42"/>
    <p:sldLayoutId id="2147483995" r:id="rId43"/>
    <p:sldLayoutId id="2147484008" r:id="rId44"/>
    <p:sldLayoutId id="2147483997" r:id="rId45"/>
    <p:sldLayoutId id="2147483998" r:id="rId46"/>
    <p:sldLayoutId id="2147483999" r:id="rId47"/>
    <p:sldLayoutId id="2147484000" r:id="rId48"/>
    <p:sldLayoutId id="2147484001" r:id="rId49"/>
    <p:sldLayoutId id="2147484002" r:id="rId50"/>
    <p:sldLayoutId id="2147484003" r:id="rId51"/>
    <p:sldLayoutId id="2147484004" r:id="rId52"/>
    <p:sldLayoutId id="2147484005" r:id="rId53"/>
    <p:sldLayoutId id="2147484006" r:id="rId54"/>
    <p:sldLayoutId id="2147484007" r:id="rId55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 userDrawn="1">
          <p15:clr>
            <a:srgbClr val="F26B43"/>
          </p15:clr>
        </p15:guide>
        <p15:guide id="31" pos="3840" userDrawn="1">
          <p15:clr>
            <a:srgbClr val="F26B43"/>
          </p15:clr>
        </p15:guide>
        <p15:guide id="32" pos="336" userDrawn="1">
          <p15:clr>
            <a:srgbClr val="F26B43"/>
          </p15:clr>
        </p15:guide>
        <p15:guide id="33" pos="7344" userDrawn="1">
          <p15:clr>
            <a:srgbClr val="F26B43"/>
          </p15:clr>
        </p15:guide>
        <p15:guide id="34" orient="horz" pos="4080" userDrawn="1">
          <p15:clr>
            <a:srgbClr val="F26B43"/>
          </p15:clr>
        </p15:guide>
        <p15:guide id="35" orient="horz" pos="1344" userDrawn="1">
          <p15:clr>
            <a:srgbClr val="F26B43"/>
          </p15:clr>
        </p15:guide>
        <p15:guide id="36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D325-094E-1D45-606B-72A50DFD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AA1684-20AB-C31B-BD60-ED111E228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10107670" cy="3642291"/>
          </a:xfrm>
        </p:spPr>
        <p:txBody>
          <a:bodyPr/>
          <a:lstStyle/>
          <a:p>
            <a:r>
              <a:rPr lang="en-US">
                <a:latin typeface="Arial Black"/>
                <a:cs typeface="Arial"/>
              </a:rPr>
              <a:t>Air Fryer Market Analysis</a:t>
            </a:r>
            <a:endParaRPr lang="en-US" err="1">
              <a:latin typeface="Arial Black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057166D-03C3-C89F-8628-7A992B931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latin typeface="Arial"/>
                <a:cs typeface="Arial"/>
              </a:rPr>
              <a:t>Rex, Samai, Austin, Anish, Alex, Kenny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19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12021-8FFA-E80F-6DDC-BE4C33055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5281438" cy="1328932"/>
          </a:xfrm>
        </p:spPr>
        <p:txBody>
          <a:bodyPr anchor="t">
            <a:normAutofit/>
          </a:bodyPr>
          <a:lstStyle/>
          <a:p>
            <a:r>
              <a:rPr lang="en-GB" sz="3300">
                <a:latin typeface="Arial Black"/>
                <a:cs typeface="Arial"/>
              </a:rPr>
              <a:t>Market Overview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70A6B0-49FC-9F85-0928-0E0B8B063E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1810724"/>
            <a:ext cx="4242759" cy="441227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1800" dirty="0">
                <a:cs typeface="Arial"/>
              </a:rPr>
              <a:t>Market is dominated by mass brands (Ninja, Instant Pot), with premium brands like Cuisinart and Oster occupying a smaller share due to high prices and low ratings</a:t>
            </a:r>
          </a:p>
          <a:p>
            <a:pPr>
              <a:spcAft>
                <a:spcPts val="600"/>
              </a:spcAft>
            </a:pPr>
            <a:r>
              <a:rPr lang="en-GB" sz="1800">
                <a:cs typeface="Arial"/>
              </a:rPr>
              <a:t>Ninja dominates with strong ratings + share </a:t>
            </a:r>
          </a:p>
          <a:p>
            <a:pPr>
              <a:spcAft>
                <a:spcPts val="600"/>
              </a:spcAft>
            </a:pPr>
            <a:r>
              <a:rPr lang="en-GB" sz="1800">
                <a:cs typeface="Arial"/>
              </a:rPr>
              <a:t>Explosive growth for Instant Pot by lowering prices and</a:t>
            </a:r>
            <a:r>
              <a:rPr lang="en-GB" sz="1800" dirty="0">
                <a:cs typeface="Arial"/>
              </a:rPr>
              <a:t> improving ratings</a:t>
            </a:r>
          </a:p>
          <a:p>
            <a:pPr>
              <a:spcAft>
                <a:spcPts val="600"/>
              </a:spcAft>
            </a:pPr>
            <a:r>
              <a:rPr lang="en-GB" sz="1800" dirty="0">
                <a:cs typeface="Arial"/>
              </a:rPr>
              <a:t>High ratings does not mean low prices, with highest-rated Ninja </a:t>
            </a:r>
            <a:r>
              <a:rPr lang="en-GB" sz="1800">
                <a:cs typeface="Arial"/>
              </a:rPr>
              <a:t>being above all other highly-rated brands in price</a:t>
            </a:r>
          </a:p>
          <a:p>
            <a:pPr>
              <a:spcAft>
                <a:spcPts val="600"/>
              </a:spcAft>
            </a:pPr>
            <a:r>
              <a:rPr lang="en-GB" sz="1800">
                <a:cs typeface="Arial"/>
              </a:rPr>
              <a:t>Appeal depends on more than just price</a:t>
            </a:r>
            <a:endParaRPr lang="en-GB" sz="1800" dirty="0">
              <a:cs typeface="Arial"/>
            </a:endParaRPr>
          </a:p>
        </p:txBody>
      </p:sp>
      <p:pic>
        <p:nvPicPr>
          <p:cNvPr id="14" name="Picture 1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6CCBD7D-5C7F-8F85-1DDF-574FC7457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077" y="-6039"/>
            <a:ext cx="4218319" cy="3433890"/>
          </a:xfrm>
          <a:prstGeom prst="rect">
            <a:avLst/>
          </a:prstGeom>
          <a:noFill/>
        </p:spPr>
      </p:pic>
      <p:pic>
        <p:nvPicPr>
          <p:cNvPr id="16" name="Picture 1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FE4402E-1B9C-C451-B0BC-A2D679C82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180" y="3418665"/>
            <a:ext cx="3675035" cy="3442480"/>
          </a:xfrm>
          <a:prstGeom prst="rect">
            <a:avLst/>
          </a:prstGeom>
        </p:spPr>
      </p:pic>
      <p:pic>
        <p:nvPicPr>
          <p:cNvPr id="17" name="Picture 1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A1B4146-A037-C639-568C-2599EC244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671" y="3418667"/>
            <a:ext cx="3469258" cy="344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16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0A6517D-869C-1C8C-CD52-43C42D63C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</p:spPr>
        <p:txBody>
          <a:bodyPr/>
          <a:lstStyle/>
          <a:p>
            <a:r>
              <a:rPr lang="en-US">
                <a:latin typeface="Arial Black"/>
                <a:cs typeface="Arial"/>
              </a:rPr>
              <a:t>Demand Model</a:t>
            </a:r>
            <a:endParaRPr lang="en-US">
              <a:latin typeface="Arial Black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85F2CE9-22DC-5961-2E4F-3D7D5BFAF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cs typeface="Arial"/>
              </a:rPr>
              <a:t>We estimate demand using a multinomial logit model: 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3B4546"/>
                </a:solidFill>
                <a:ea typeface="+mn-lt"/>
                <a:cs typeface="+mn-lt"/>
              </a:rPr>
              <a:t>log(</a:t>
            </a:r>
            <a:r>
              <a:rPr lang="en-US" sz="1600" b="1" dirty="0" err="1">
                <a:solidFill>
                  <a:srgbClr val="3B4546"/>
                </a:solidFill>
                <a:ea typeface="+mn-lt"/>
                <a:cs typeface="+mn-lt"/>
              </a:rPr>
              <a:t>sbt</a:t>
            </a:r>
            <a:r>
              <a:rPr lang="en-US" sz="1600" b="1" dirty="0">
                <a:solidFill>
                  <a:srgbClr val="3B4546"/>
                </a:solidFill>
                <a:ea typeface="+mn-lt"/>
                <a:cs typeface="+mn-lt"/>
              </a:rPr>
              <a:t>) = α + β(price </a:t>
            </a:r>
            <a:r>
              <a:rPr lang="en-US" sz="1600" b="1" dirty="0" err="1">
                <a:solidFill>
                  <a:srgbClr val="3B4546"/>
                </a:solidFill>
                <a:ea typeface="+mn-lt"/>
                <a:cs typeface="+mn-lt"/>
              </a:rPr>
              <a:t>pbt</a:t>
            </a:r>
            <a:r>
              <a:rPr lang="en-US" sz="1600" b="1" dirty="0">
                <a:solidFill>
                  <a:srgbClr val="3B4546"/>
                </a:solidFill>
                <a:ea typeface="+mn-lt"/>
                <a:cs typeface="+mn-lt"/>
              </a:rPr>
              <a:t>) + β(rating </a:t>
            </a:r>
            <a:r>
              <a:rPr lang="en-US" sz="1600" b="1" dirty="0" err="1">
                <a:solidFill>
                  <a:srgbClr val="3B4546"/>
                </a:solidFill>
                <a:ea typeface="+mn-lt"/>
                <a:cs typeface="+mn-lt"/>
              </a:rPr>
              <a:t>rbt</a:t>
            </a:r>
            <a:r>
              <a:rPr lang="en-US" sz="1600" b="1" dirty="0">
                <a:solidFill>
                  <a:srgbClr val="3B4546"/>
                </a:solidFill>
                <a:ea typeface="+mn-lt"/>
                <a:cs typeface="+mn-lt"/>
              </a:rPr>
              <a:t>) + features + brand dummies + year dummies</a:t>
            </a:r>
            <a:endParaRPr lang="en-US" sz="1600" b="1" dirty="0">
              <a:ea typeface="+mn-lt"/>
              <a:cs typeface="+mn-lt"/>
            </a:endParaRPr>
          </a:p>
          <a:p>
            <a:endParaRPr lang="en-US" sz="1100">
              <a:solidFill>
                <a:srgbClr val="E4E4E4"/>
              </a:solidFill>
              <a:highlight>
                <a:srgbClr val="181818"/>
              </a:highlight>
              <a:latin typeface="Consolas"/>
              <a:ea typeface="+mn-lt"/>
            </a:endParaRPr>
          </a:p>
          <a:p>
            <a:pPr marL="285750" indent="-285750"/>
            <a:r>
              <a:rPr lang="en-US" sz="1800">
                <a:solidFill>
                  <a:srgbClr val="3B4546"/>
                </a:solidFill>
                <a:latin typeface="Arial"/>
                <a:ea typeface="+mn-lt"/>
                <a:cs typeface="Arial"/>
              </a:rPr>
              <a:t>We model how market share depends on price, ratings, and product features</a:t>
            </a:r>
          </a:p>
          <a:p>
            <a:pPr marL="285750" indent="-285750"/>
            <a:r>
              <a:rPr lang="en-US" sz="1800" dirty="0">
                <a:solidFill>
                  <a:srgbClr val="3B4546"/>
                </a:solidFill>
                <a:latin typeface="Arial"/>
                <a:ea typeface="+mn-lt"/>
                <a:cs typeface="Arial"/>
              </a:rPr>
              <a:t>Brand and year dummies are interpreted relative to the dropped reference categories (</a:t>
            </a:r>
            <a:r>
              <a:rPr lang="en-US" sz="1800" dirty="0" err="1">
                <a:solidFill>
                  <a:srgbClr val="3B4546"/>
                </a:solidFill>
                <a:latin typeface="Arial"/>
                <a:ea typeface="+mn-lt"/>
                <a:cs typeface="Arial"/>
              </a:rPr>
              <a:t>Chefman</a:t>
            </a:r>
            <a:r>
              <a:rPr lang="en-US" sz="1800" dirty="0">
                <a:solidFill>
                  <a:srgbClr val="3B4546"/>
                </a:solidFill>
                <a:latin typeface="Arial"/>
                <a:ea typeface="+mn-lt"/>
                <a:cs typeface="Arial"/>
              </a:rPr>
              <a:t> and 2019, respectively)</a:t>
            </a:r>
            <a:endParaRPr lang="en-US" sz="1800" dirty="0">
              <a:solidFill>
                <a:srgbClr val="3B4546"/>
              </a:solidFill>
              <a:latin typeface="Arial"/>
              <a:ea typeface="+mn-lt"/>
            </a:endParaRPr>
          </a:p>
          <a:p>
            <a:pPr marL="285750" indent="-285750"/>
            <a:endParaRPr lang="en-US" sz="1800" dirty="0">
              <a:solidFill>
                <a:srgbClr val="3B4546"/>
              </a:solidFill>
              <a:latin typeface="Arial"/>
              <a:ea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GB" sz="1800" b="1">
                <a:solidFill>
                  <a:srgbClr val="3B4546"/>
                </a:solidFill>
                <a:latin typeface="Arial"/>
                <a:ea typeface="+mn-lt"/>
                <a:cs typeface="Arial"/>
              </a:rPr>
              <a:t> Estimated price coefficient: </a:t>
            </a:r>
            <a:r>
              <a:rPr lang="en-GB" sz="1800">
                <a:solidFill>
                  <a:srgbClr val="3B4546"/>
                </a:solidFill>
                <a:latin typeface="Arial"/>
                <a:ea typeface="+mn-lt"/>
                <a:cs typeface="Arial"/>
              </a:rPr>
              <a:t>β_price = -0.0377</a:t>
            </a:r>
            <a:endParaRPr lang="en-US" sz="1800">
              <a:solidFill>
                <a:srgbClr val="000000"/>
              </a:solidFill>
              <a:latin typeface="Arial"/>
              <a:ea typeface="+mn-lt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</a:pPr>
            <a:r>
              <a:rPr lang="en-GB" sz="1800">
                <a:solidFill>
                  <a:srgbClr val="3B4546"/>
                </a:solidFill>
                <a:latin typeface="Arial"/>
                <a:ea typeface="+mn-lt"/>
                <a:cs typeface="Arial"/>
              </a:rPr>
              <a:t>As expected, higher prices translate to lower demand</a:t>
            </a:r>
            <a:endParaRPr lang="en-US" sz="180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</a:pPr>
            <a:r>
              <a:rPr lang="en-GB" sz="1800">
                <a:solidFill>
                  <a:srgbClr val="3B4546"/>
                </a:solidFill>
                <a:latin typeface="Arial"/>
                <a:ea typeface="+mn-lt"/>
                <a:cs typeface="Arial"/>
              </a:rPr>
              <a:t>Market share is price-sensitive</a:t>
            </a:r>
            <a:endParaRPr lang="en-US"/>
          </a:p>
          <a:p>
            <a:pPr marL="0" indent="0">
              <a:buNone/>
            </a:pPr>
            <a:endParaRPr lang="en-US">
              <a:solidFill>
                <a:srgbClr val="3B4546"/>
              </a:solidFill>
              <a:latin typeface="Arial"/>
              <a:ea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339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9823-84BE-3C84-3A19-A16C69C65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>
                <a:latin typeface="Arial Black"/>
                <a:cs typeface="Arial"/>
              </a:rPr>
              <a:t>Price and </a:t>
            </a:r>
            <a:r>
              <a:rPr lang="en-GB" sz="3600">
                <a:latin typeface="Arial Black"/>
                <a:cs typeface="Arial"/>
              </a:rPr>
              <a:t>Features</a:t>
            </a:r>
            <a:endParaRPr lang="en-US" sz="36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0240C-5908-9DD2-C9DA-2F799E5202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GB" sz="1800" dirty="0">
                <a:cs typeface="Arial" panose="020B0604020202020204"/>
              </a:rPr>
              <a:t>Top demand drivers (brands with these features tend to have greater market </a:t>
            </a:r>
            <a:r>
              <a:rPr lang="en-GB" sz="1800">
                <a:cs typeface="Arial" panose="020B0604020202020204"/>
              </a:rPr>
              <a:t>share):</a:t>
            </a:r>
            <a:endParaRPr lang="en-GB" sz="1800" dirty="0">
              <a:cs typeface="Arial" panose="020B0604020202020204"/>
            </a:endParaRPr>
          </a:p>
          <a:p>
            <a:pPr marL="285750" indent="-285750"/>
            <a:r>
              <a:rPr lang="en-GB" sz="1800">
                <a:cs typeface="Arial" panose="020B0604020202020204"/>
              </a:rPr>
              <a:t>Viewing windows</a:t>
            </a:r>
          </a:p>
          <a:p>
            <a:pPr marL="285750" indent="-285750"/>
            <a:r>
              <a:rPr lang="en-GB" sz="1800">
                <a:cs typeface="Arial" panose="020B0604020202020204"/>
              </a:rPr>
              <a:t>Compact designs</a:t>
            </a:r>
            <a:endParaRPr lang="en-GB"/>
          </a:p>
          <a:p>
            <a:pPr marL="285750" indent="-285750"/>
            <a:r>
              <a:rPr lang="en-GB" sz="1800">
                <a:cs typeface="Arial" panose="020B0604020202020204"/>
              </a:rPr>
              <a:t>Oven-style models</a:t>
            </a:r>
          </a:p>
          <a:p>
            <a:pPr marL="0" indent="0">
              <a:buNone/>
            </a:pPr>
            <a:endParaRPr lang="en-GB" sz="1800" dirty="0">
              <a:cs typeface="Arial" panose="020B0604020202020204"/>
            </a:endParaRPr>
          </a:p>
          <a:p>
            <a:pPr marL="0" indent="0">
              <a:buNone/>
            </a:pPr>
            <a:r>
              <a:rPr lang="en-GB" sz="1800" dirty="0">
                <a:cs typeface="Arial" panose="020B0604020202020204"/>
              </a:rPr>
              <a:t>Compact and oven-style are both the most common features across brands and the top demand drivers, indicating that consumers commonly expect these features in an air fryer.</a:t>
            </a:r>
          </a:p>
          <a:p>
            <a:pPr marL="0" indent="0">
              <a:buNone/>
            </a:pPr>
            <a:endParaRPr lang="en-GB" sz="1800" dirty="0">
              <a:cs typeface="Arial" panose="020B0604020202020204"/>
            </a:endParaRPr>
          </a:p>
          <a:p>
            <a:pPr marL="0" indent="0">
              <a:buNone/>
            </a:pPr>
            <a:r>
              <a:rPr lang="en-GB" sz="1800" dirty="0">
                <a:cs typeface="Arial" panose="020B0604020202020204"/>
              </a:rPr>
              <a:t>On the flipside, brands with dual-basket designs and rotisserie-capable models tend to have </a:t>
            </a:r>
            <a:r>
              <a:rPr lang="en-GB" sz="1800">
                <a:cs typeface="Arial" panose="020B0604020202020204"/>
              </a:rPr>
              <a:t>smaller market share.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290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5C14-63EC-B2CD-8F6D-4B5F713C7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02578"/>
            <a:ext cx="2952934" cy="2434897"/>
          </a:xfrm>
        </p:spPr>
        <p:txBody>
          <a:bodyPr anchor="t">
            <a:normAutofit/>
          </a:bodyPr>
          <a:lstStyle/>
          <a:p>
            <a:r>
              <a:rPr lang="en-GB">
                <a:latin typeface="Arial Black"/>
              </a:rPr>
              <a:t>Costs, Markups, Profits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D97D12-0B80-5943-C4A2-72B157F8C1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846732"/>
            <a:ext cx="8171010" cy="23873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cs typeface="Arial"/>
              </a:rPr>
              <a:t>Using our demand model, we estimated unit costs, markups, and share-weighted profits:</a:t>
            </a:r>
          </a:p>
          <a:p>
            <a:pPr marL="285750" indent="-285750">
              <a:buChar char="•"/>
            </a:pPr>
            <a:r>
              <a:rPr lang="en-US" sz="1800">
                <a:cs typeface="Arial"/>
              </a:rPr>
              <a:t>Premium brands show higher markups but lower market share</a:t>
            </a:r>
            <a:endParaRPr lang="en-US" sz="1800"/>
          </a:p>
          <a:p>
            <a:pPr marL="285750" indent="-285750">
              <a:buChar char="•"/>
            </a:pPr>
            <a:r>
              <a:rPr lang="en-US" sz="1800">
                <a:cs typeface="Arial"/>
              </a:rPr>
              <a:t>Mass-market brands (e.g., Ninja) achieve higher share-weighted profits</a:t>
            </a:r>
          </a:p>
          <a:p>
            <a:pPr marL="285750" indent="-285750">
              <a:buChar char="•"/>
            </a:pPr>
            <a:r>
              <a:rPr lang="en-US" sz="1800">
                <a:cs typeface="Arial"/>
              </a:rPr>
              <a:t>Cost and price differences reflect product positioning strategy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9192E4-3807-A8F8-8149-30408C8BD37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/>
        </p:blipFill>
        <p:spPr>
          <a:xfrm>
            <a:off x="-1" y="3640774"/>
            <a:ext cx="12192000" cy="3200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3076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CCF6-DE82-83C8-5613-05955715F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629926" cy="2735828"/>
          </a:xfrm>
        </p:spPr>
        <p:txBody>
          <a:bodyPr/>
          <a:lstStyle/>
          <a:p>
            <a:r>
              <a:rPr lang="en-GB">
                <a:latin typeface="Arial Black"/>
                <a:cs typeface="Arial"/>
              </a:rPr>
              <a:t>Conclusion</a:t>
            </a:r>
            <a:endParaRPr lang="en-GB">
              <a:latin typeface="Arial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137CD-3AB3-609E-FFBB-9596A5DE58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1800">
                <a:cs typeface="Arial"/>
              </a:rPr>
              <a:t>Air fryer market is competitive and price-sensitive</a:t>
            </a:r>
          </a:p>
          <a:p>
            <a:r>
              <a:rPr lang="en-GB" sz="1800" dirty="0">
                <a:cs typeface="Arial"/>
              </a:rPr>
              <a:t>Mid-priced brands dominate demand, balancing quality and affordability</a:t>
            </a:r>
          </a:p>
          <a:p>
            <a:r>
              <a:rPr lang="en-GB" sz="1800" dirty="0">
                <a:cs typeface="Arial"/>
              </a:rPr>
              <a:t>Based on our </a:t>
            </a:r>
            <a:r>
              <a:rPr lang="en-GB" sz="1800">
                <a:cs typeface="Arial"/>
              </a:rPr>
              <a:t>model, a brand's winning strategy includes: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>
                <a:cs typeface="Arial"/>
              </a:rPr>
              <a:t>Competitive pricing</a:t>
            </a:r>
            <a:endParaRPr lang="en-GB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>
                <a:cs typeface="Arial"/>
              </a:rPr>
              <a:t>Strong consumer ratings</a:t>
            </a:r>
            <a:endParaRPr lang="en-GB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>
                <a:cs typeface="Arial"/>
              </a:rPr>
              <a:t>Practical, in-demand, high-value features</a:t>
            </a:r>
            <a:endParaRPr lang="en-GB" sz="1800"/>
          </a:p>
          <a:p>
            <a:pPr marL="228600" lvl="1" indent="0">
              <a:buNone/>
            </a:pPr>
            <a:endParaRPr lang="en-GB" sz="1800">
              <a:cs typeface="Arial"/>
            </a:endParaRPr>
          </a:p>
          <a:p>
            <a:pPr indent="-285750"/>
            <a:r>
              <a:rPr lang="en-GB" sz="1800">
                <a:cs typeface="Arial"/>
              </a:rPr>
              <a:t>Ninja occupies the strongest overall position</a:t>
            </a:r>
            <a:endParaRPr lang="en-GB" sz="1800"/>
          </a:p>
          <a:p>
            <a:pPr indent="-285750"/>
            <a:r>
              <a:rPr lang="en-GB" sz="1800" dirty="0">
                <a:cs typeface="Arial"/>
              </a:rPr>
              <a:t>Instant Pot exhibits the fastest growth trajectory</a:t>
            </a:r>
            <a:endParaRPr lang="en-GB" sz="1800" dirty="0"/>
          </a:p>
          <a:p>
            <a:pPr indent="-285750"/>
            <a:r>
              <a:rPr lang="en-GB" sz="1800" dirty="0">
                <a:cs typeface="Arial"/>
              </a:rPr>
              <a:t>Premium brands like Cuisinart and Oster face </a:t>
            </a:r>
            <a:r>
              <a:rPr lang="en-GB" sz="1800">
                <a:cs typeface="Arial"/>
              </a:rPr>
              <a:t>declining market share in the face of price decreases, rating drops, and profit </a:t>
            </a:r>
            <a:r>
              <a:rPr lang="en-GB" sz="1800" dirty="0">
                <a:cs typeface="Arial"/>
              </a:rPr>
              <a:t>losses</a:t>
            </a:r>
            <a:endParaRPr lang="en-GB" sz="1800" dirty="0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283235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_Copilot Layouts_win32_SD_V6" id="{49C5632F-1D3A-4333-ABAA-E3191A9D5D1B}" vid="{9EF76739-2083-4254-82E9-ECA94F6BD3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766CE19-BB35-48A2-AFDA-766E83330032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99ED26-B189-4BA1-99D0-1112D8C2F106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Modulo</vt:lpstr>
      <vt:lpstr>Air Fryer Market Analysis</vt:lpstr>
      <vt:lpstr>Market Overview</vt:lpstr>
      <vt:lpstr>Demand Model</vt:lpstr>
      <vt:lpstr>Price and Features</vt:lpstr>
      <vt:lpstr>Costs, Markups, Profits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212</cp:revision>
  <dcterms:created xsi:type="dcterms:W3CDTF">2026-05-03T16:45:31Z</dcterms:created>
  <dcterms:modified xsi:type="dcterms:W3CDTF">2026-05-04T03:18:26Z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